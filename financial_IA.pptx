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o8vdQObKblmw8ZOx10TGqwVvw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6350da8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317233" y="678118"/>
            <a:ext cx="65094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AGENTE FINANCIERO 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497741" y="1041749"/>
            <a:ext cx="41484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3150"/>
              <a:buFont typeface="Georgia"/>
              <a:buNone/>
            </a:pPr>
            <a:r>
              <a:rPr b="0" i="0" lang="en-US" sz="3150" u="none" cap="none" strike="noStrike">
                <a:solidFill>
                  <a:srgbClr val="F7F9FA"/>
                </a:solidFill>
                <a:latin typeface="Georgia"/>
                <a:ea typeface="Georgia"/>
                <a:cs typeface="Georgia"/>
                <a:sym typeface="Georgia"/>
              </a:rPr>
              <a:t>Transformando Gestorías en Asesores Estratégicos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350133" y="2886565"/>
            <a:ext cx="6509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Del prototipo validado al producto en producción. Una colaboración para llevar vuestra innovación al mercado.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803402" y="3599251"/>
            <a:ext cx="3537300" cy="472500"/>
          </a:xfrm>
          <a:prstGeom prst="roundRect">
            <a:avLst>
              <a:gd fmla="val 12098" name="adj"/>
            </a:avLst>
          </a:prstGeom>
          <a:solidFill>
            <a:srgbClr val="C9A227">
              <a:alpha val="9803"/>
            </a:srgbClr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049704" y="3676501"/>
            <a:ext cx="304444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50"/>
              <a:buFont typeface="Georgia"/>
              <a:buNone/>
            </a:pPr>
            <a:r>
              <a:rPr b="0" i="1" lang="en-US" sz="105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"Sistemas que escalan conocimiento, no lo reemplazan"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ac189deb.png"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381000" y="3810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F7F9FA"/>
                </a:solidFill>
                <a:latin typeface="Georgia"/>
                <a:ea typeface="Georgia"/>
                <a:cs typeface="Georgia"/>
                <a:sym typeface="Georgia"/>
              </a:rPr>
              <a:t>La Oportunidad de Mercado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81000" y="800100"/>
            <a:ext cx="5715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81000" y="1095375"/>
            <a:ext cx="4076700" cy="807690"/>
          </a:xfrm>
          <a:prstGeom prst="roundRect">
            <a:avLst>
              <a:gd fmla="val 7076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63880" y="1285875"/>
            <a:ext cx="77724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+15K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524000" y="1306860"/>
            <a:ext cx="204769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7F9FA"/>
                </a:solidFill>
                <a:latin typeface="Arial"/>
                <a:ea typeface="Arial"/>
                <a:cs typeface="Arial"/>
                <a:sym typeface="Arial"/>
              </a:rPr>
              <a:t>Gestorías en España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524000" y="1531590"/>
            <a:ext cx="204769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Mercado fragmentado, mayoría PYMEs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81000" y="2055465"/>
            <a:ext cx="4076700" cy="807690"/>
          </a:xfrm>
          <a:prstGeom prst="roundRect">
            <a:avLst>
              <a:gd fmla="val 7076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63880" y="2245965"/>
            <a:ext cx="77724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3M+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524000" y="2266950"/>
            <a:ext cx="189892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7F9FA"/>
                </a:solidFill>
                <a:latin typeface="Arial"/>
                <a:ea typeface="Arial"/>
                <a:cs typeface="Arial"/>
                <a:sym typeface="Arial"/>
              </a:rPr>
              <a:t>PYMEs en España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524000" y="2491680"/>
            <a:ext cx="189892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Clientes potenciales de las gestorías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81000" y="3015555"/>
            <a:ext cx="4076700" cy="807690"/>
          </a:xfrm>
          <a:prstGeom prst="roundRect">
            <a:avLst>
              <a:gd fmla="val 7076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63880" y="3206055"/>
            <a:ext cx="77724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73%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524000" y="3227040"/>
            <a:ext cx="221528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7F9FA"/>
                </a:solidFill>
                <a:latin typeface="Arial"/>
                <a:ea typeface="Arial"/>
                <a:cs typeface="Arial"/>
                <a:sym typeface="Arial"/>
              </a:rPr>
              <a:t>No reciben asesoramiento financiero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524000" y="3451771"/>
            <a:ext cx="221528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Solo tramitación, sin análisis de negocio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6300" y="1095375"/>
            <a:ext cx="4076700" cy="2676525"/>
          </a:xfrm>
          <a:prstGeom prst="roundRect">
            <a:avLst>
              <a:gd fmla="val 2135" name="adj"/>
            </a:avLst>
          </a:prstGeom>
          <a:solidFill>
            <a:srgbClr val="C9A227">
              <a:alpha val="9803"/>
            </a:srgbClr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924425" y="1333500"/>
            <a:ext cx="367245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LA OPORTUNIDAD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924425" y="1619250"/>
            <a:ext cx="3672459" cy="679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7F9FA"/>
                </a:solidFill>
                <a:latin typeface="Arial"/>
                <a:ea typeface="Arial"/>
                <a:cs typeface="Arial"/>
                <a:sym typeface="Arial"/>
              </a:rPr>
              <a:t>Las gestorías tienen acceso a </a:t>
            </a:r>
            <a:r>
              <a:rPr b="1" i="0" lang="en-US" sz="10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todos los datos financieros</a:t>
            </a:r>
            <a:r>
              <a:rPr b="0" i="0" lang="en-US" sz="1050" u="none" cap="none" strike="noStrike">
                <a:solidFill>
                  <a:srgbClr val="F7F9FA"/>
                </a:solidFill>
                <a:latin typeface="Arial"/>
                <a:ea typeface="Arial"/>
                <a:cs typeface="Arial"/>
                <a:sym typeface="Arial"/>
              </a:rPr>
              <a:t> de sus clientes, pero no tienen tiempo ni herramientas para convertirlos en valor.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924425" y="2451646"/>
            <a:ext cx="3672459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7F9FA"/>
                </a:solidFill>
                <a:latin typeface="Arial"/>
                <a:ea typeface="Arial"/>
                <a:cs typeface="Arial"/>
                <a:sym typeface="Arial"/>
              </a:rPr>
              <a:t>El que ofrezca </a:t>
            </a:r>
            <a:r>
              <a:rPr b="1" i="0" lang="en-US" sz="10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análisis además de tramitación</a:t>
            </a:r>
            <a:r>
              <a:rPr b="0" i="0" lang="en-US" sz="1050" u="none" cap="none" strike="noStrike">
                <a:solidFill>
                  <a:srgbClr val="F7F9FA"/>
                </a:solidFill>
                <a:latin typeface="Arial"/>
                <a:ea typeface="Arial"/>
                <a:cs typeface="Arial"/>
                <a:sym typeface="Arial"/>
              </a:rPr>
              <a:t> captura un mercado que hoy no existe.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686300" y="3924300"/>
            <a:ext cx="4076700" cy="838200"/>
          </a:xfrm>
          <a:prstGeom prst="roundRect">
            <a:avLst>
              <a:gd fmla="val 6818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876800" y="4114800"/>
            <a:ext cx="37696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1125"/>
              <a:buFont typeface="Georgia"/>
              <a:buNone/>
            </a:pPr>
            <a:r>
              <a:rPr b="0" i="1" lang="en-US" sz="1125" u="none" cap="none" strike="noStrike">
                <a:solidFill>
                  <a:srgbClr val="F7F9FA"/>
                </a:solidFill>
                <a:latin typeface="Georgia"/>
                <a:ea typeface="Georgia"/>
                <a:cs typeface="Georgia"/>
                <a:sym typeface="Georgia"/>
              </a:rPr>
              <a:t>"La gestoría que asesora fideliza. La que solo tramita, compite por precio."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b56f1b60.png" id="53" name="Google Shape;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/>
          <p:nvPr/>
        </p:nvSpPr>
        <p:spPr>
          <a:xfrm>
            <a:off x="381000" y="3810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F7F9FA"/>
                </a:solidFill>
                <a:latin typeface="Georgia"/>
                <a:ea typeface="Georgia"/>
                <a:cs typeface="Georgia"/>
                <a:sym typeface="Georgia"/>
              </a:rPr>
              <a:t>El Problema de las Gestorías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81000" y="800100"/>
            <a:ext cx="5715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81000" y="1133475"/>
            <a:ext cx="2667000" cy="2756595"/>
          </a:xfrm>
          <a:prstGeom prst="roundRect">
            <a:avLst>
              <a:gd fmla="val 2143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3"/>
          <p:cNvCxnSpPr/>
          <p:nvPr/>
        </p:nvCxnSpPr>
        <p:spPr>
          <a:xfrm>
            <a:off x="395288" y="1133475"/>
            <a:ext cx="0" cy="2756595"/>
          </a:xfrm>
          <a:prstGeom prst="straightConnector1">
            <a:avLst/>
          </a:prstGeom>
          <a:noFill/>
          <a:ln cap="flat" cmpd="sng" w="2857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3"/>
          <p:cNvSpPr/>
          <p:nvPr/>
        </p:nvSpPr>
        <p:spPr>
          <a:xfrm>
            <a:off x="638175" y="1362075"/>
            <a:ext cx="381000" cy="381000"/>
          </a:xfrm>
          <a:prstGeom prst="roundRect">
            <a:avLst>
              <a:gd fmla="val 240000" name="adj"/>
            </a:avLst>
          </a:prstGeom>
          <a:solidFill>
            <a:srgbClr val="C9A227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38175" y="1895475"/>
            <a:ext cx="2224850" cy="182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F7F9FA"/>
                </a:solidFill>
                <a:latin typeface="Georgia"/>
                <a:ea typeface="Georgia"/>
                <a:cs typeface="Georgia"/>
                <a:sym typeface="Georgia"/>
              </a:rPr>
              <a:t>Tramitadores, No Asesores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38175" y="2192536"/>
            <a:ext cx="2224850" cy="853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El día a día se va en impuestos, nóminas y contabilidad. No hay tiempo para analizar qué significan esos números para el cliente.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238500" y="1133475"/>
            <a:ext cx="2667000" cy="2756595"/>
          </a:xfrm>
          <a:prstGeom prst="roundRect">
            <a:avLst>
              <a:gd fmla="val 2143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3"/>
          <p:cNvCxnSpPr/>
          <p:nvPr/>
        </p:nvCxnSpPr>
        <p:spPr>
          <a:xfrm>
            <a:off x="3252788" y="1133475"/>
            <a:ext cx="0" cy="2756595"/>
          </a:xfrm>
          <a:prstGeom prst="straightConnector1">
            <a:avLst/>
          </a:prstGeom>
          <a:noFill/>
          <a:ln cap="flat" cmpd="sng" w="2857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3"/>
          <p:cNvSpPr/>
          <p:nvPr/>
        </p:nvSpPr>
        <p:spPr>
          <a:xfrm>
            <a:off x="3495675" y="1362075"/>
            <a:ext cx="381000" cy="381000"/>
          </a:xfrm>
          <a:prstGeom prst="roundRect">
            <a:avLst>
              <a:gd fmla="val 240000" name="adj"/>
            </a:avLst>
          </a:prstGeom>
          <a:solidFill>
            <a:srgbClr val="C9A227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495675" y="1895475"/>
            <a:ext cx="2224850" cy="182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F7F9FA"/>
                </a:solidFill>
                <a:latin typeface="Georgia"/>
                <a:ea typeface="Georgia"/>
                <a:cs typeface="Georgia"/>
                <a:sym typeface="Georgia"/>
              </a:rPr>
              <a:t>Datos Sin Explotar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495675" y="2192536"/>
            <a:ext cx="2224850" cy="853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Tienen acceso a toda la información financiera de sus clientes. Pero generar un informe de análisis lleva horas que no tienen.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096000" y="1133475"/>
            <a:ext cx="2667000" cy="2756595"/>
          </a:xfrm>
          <a:prstGeom prst="roundRect">
            <a:avLst>
              <a:gd fmla="val 2143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3"/>
          <p:cNvCxnSpPr/>
          <p:nvPr/>
        </p:nvCxnSpPr>
        <p:spPr>
          <a:xfrm>
            <a:off x="6110288" y="1133475"/>
            <a:ext cx="0" cy="2756595"/>
          </a:xfrm>
          <a:prstGeom prst="straightConnector1">
            <a:avLst/>
          </a:prstGeom>
          <a:noFill/>
          <a:ln cap="flat" cmpd="sng" w="2857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3"/>
          <p:cNvSpPr/>
          <p:nvPr/>
        </p:nvSpPr>
        <p:spPr>
          <a:xfrm>
            <a:off x="6353175" y="1362075"/>
            <a:ext cx="381000" cy="381000"/>
          </a:xfrm>
          <a:prstGeom prst="roundRect">
            <a:avLst>
              <a:gd fmla="val 240000" name="adj"/>
            </a:avLst>
          </a:prstGeom>
          <a:solidFill>
            <a:srgbClr val="C9A227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353175" y="1895475"/>
            <a:ext cx="2224850" cy="182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F7F9FA"/>
                </a:solidFill>
                <a:latin typeface="Georgia"/>
                <a:ea typeface="Georgia"/>
                <a:cs typeface="Georgia"/>
                <a:sym typeface="Georgia"/>
              </a:rPr>
              <a:t>Competencia por Precio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353175" y="2192536"/>
            <a:ext cx="2224850" cy="853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Si solo ofreces lo mismo que todos, el cliente elige al más barato. Sin diferenciación, los márgenes se comprimen.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81000" y="4271070"/>
            <a:ext cx="8382000" cy="491430"/>
          </a:xfrm>
          <a:prstGeom prst="roundRect">
            <a:avLst>
              <a:gd fmla="val 11629" name="adj"/>
            </a:avLst>
          </a:prstGeom>
          <a:solidFill>
            <a:srgbClr val="C9A227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30352" y="4423470"/>
            <a:ext cx="808329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El resultado:</a:t>
            </a:r>
            <a:r>
              <a:rPr b="0" i="0" lang="en-US" sz="1050" u="none" cap="none" strike="noStrike">
                <a:solidFill>
                  <a:srgbClr val="F7F9FA"/>
                </a:solidFill>
                <a:latin typeface="Arial"/>
                <a:ea typeface="Arial"/>
                <a:cs typeface="Arial"/>
                <a:sym typeface="Arial"/>
              </a:rPr>
              <a:t> Clientes que no ven valor añadido y se van cuando encuentran precio más bajo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0d35173e.png"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381000" y="381000"/>
            <a:ext cx="496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F7F9FA"/>
                </a:solidFill>
                <a:latin typeface="Georgia"/>
                <a:ea typeface="Georgia"/>
                <a:cs typeface="Georgia"/>
                <a:sym typeface="Georgia"/>
              </a:rPr>
              <a:t>La Solución: Agente Financiero IA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81000" y="800100"/>
            <a:ext cx="5715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81000" y="1057275"/>
            <a:ext cx="2667000" cy="2947095"/>
          </a:xfrm>
          <a:prstGeom prst="roundRect">
            <a:avLst>
              <a:gd fmla="val 2143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71500" y="1247775"/>
            <a:ext cx="342900" cy="342900"/>
          </a:xfrm>
          <a:prstGeom prst="roundRect">
            <a:avLst>
              <a:gd fmla="val 266667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71500" y="1724025"/>
            <a:ext cx="23317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25"/>
              <a:buFont typeface="Georgia"/>
              <a:buNone/>
            </a:pPr>
            <a:r>
              <a:rPr b="0" i="0" lang="en-US" sz="1125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Automatiza Análisis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71500" y="2009775"/>
            <a:ext cx="22860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Consolidación de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Elaboración de informes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Conciliación bancaria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Análisis de gastos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Cumplimiento fiscal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238500" y="1057275"/>
            <a:ext cx="2667000" cy="2947095"/>
          </a:xfrm>
          <a:prstGeom prst="roundRect">
            <a:avLst>
              <a:gd fmla="val 2143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429000" y="1247775"/>
            <a:ext cx="342900" cy="342900"/>
          </a:xfrm>
          <a:prstGeom prst="roundRect">
            <a:avLst>
              <a:gd fmla="val 266667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429000" y="1724025"/>
            <a:ext cx="23317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25"/>
              <a:buFont typeface="Georgia"/>
              <a:buNone/>
            </a:pPr>
            <a:r>
              <a:rPr b="0" i="0" lang="en-US" sz="1125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Casos Personalizados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429000" y="2009775"/>
            <a:ext cx="2286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Adaptable a nuevas áreas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Discovery de casos de uso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Agente IA a medida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PoC y ajustes parametrizados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Acompañamiento continuo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096000" y="1057275"/>
            <a:ext cx="2667000" cy="2947095"/>
          </a:xfrm>
          <a:prstGeom prst="roundRect">
            <a:avLst>
              <a:gd fmla="val 2143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286500" y="1247775"/>
            <a:ext cx="342900" cy="342900"/>
          </a:xfrm>
          <a:prstGeom prst="roundRect">
            <a:avLst>
              <a:gd fmla="val 266667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286500" y="1724025"/>
            <a:ext cx="23317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25"/>
              <a:buFont typeface="Georgia"/>
              <a:buNone/>
            </a:pPr>
            <a:r>
              <a:rPr b="0" i="0" lang="en-US" sz="1125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Destaca con Clientes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286500" y="2009775"/>
            <a:ext cx="22860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Conoce mejor a tus clientes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Posiciónate como experto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Oportunidades de upselling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Mejores decisiones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Fidelización por valor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81000" y="4347270"/>
            <a:ext cx="8382000" cy="453330"/>
          </a:xfrm>
          <a:prstGeom prst="roundRect">
            <a:avLst>
              <a:gd fmla="val 12607" name="adj"/>
            </a:avLst>
          </a:prstGeom>
          <a:solidFill>
            <a:srgbClr val="C9A227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30352" y="4480620"/>
            <a:ext cx="808329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7F9FA"/>
                </a:solidFill>
                <a:latin typeface="Arial"/>
                <a:ea typeface="Arial"/>
                <a:cs typeface="Arial"/>
                <a:sym typeface="Arial"/>
              </a:rPr>
              <a:t>Ya tenéis el concepto validado. El siguiente paso es </a:t>
            </a:r>
            <a:r>
              <a:rPr b="1" i="0" lang="en-US" sz="10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construir el producto en producción</a:t>
            </a:r>
            <a:r>
              <a:rPr b="0" i="0" lang="en-US" sz="1050" u="none" cap="none" strike="noStrike">
                <a:solidFill>
                  <a:srgbClr val="F7F9F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7c874823.png" id="100" name="Google Shape;1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381000" y="3810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F7F9FA"/>
                </a:solidFill>
                <a:latin typeface="Georgia"/>
                <a:ea typeface="Georgia"/>
                <a:cs typeface="Georgia"/>
                <a:sym typeface="Georgia"/>
              </a:rPr>
              <a:t>Cómo lo Construimos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81000" y="800100"/>
            <a:ext cx="5715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81000" y="1095375"/>
            <a:ext cx="1981200" cy="419100"/>
          </a:xfrm>
          <a:prstGeom prst="roundRect">
            <a:avLst>
              <a:gd fmla="val 13636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61188" y="1171575"/>
            <a:ext cx="202082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41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381000" y="1514475"/>
            <a:ext cx="1981200" cy="3286125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52450" y="1685925"/>
            <a:ext cx="167106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F7F9FA"/>
                </a:solidFill>
                <a:latin typeface="Georgia"/>
                <a:ea typeface="Georgia"/>
                <a:cs typeface="Georgia"/>
                <a:sym typeface="Georgia"/>
              </a:rPr>
              <a:t>Discovery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52450" y="1903065"/>
            <a:ext cx="167106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2-3 semanas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52450" y="2144911"/>
            <a:ext cx="1638300" cy="2484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Análisis del prototipo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Definición de alcance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Arquitectura técnica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Casos prioritarios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514600" y="1095375"/>
            <a:ext cx="1981200" cy="419100"/>
          </a:xfrm>
          <a:prstGeom prst="roundRect">
            <a:avLst>
              <a:gd fmla="val 13636" name="adj"/>
            </a:avLst>
          </a:prstGeom>
          <a:solidFill>
            <a:srgbClr val="C9A227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2494788" y="1171575"/>
            <a:ext cx="202082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41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514600" y="1514475"/>
            <a:ext cx="1981200" cy="3286125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686050" y="1685925"/>
            <a:ext cx="167106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F7F9FA"/>
                </a:solidFill>
                <a:latin typeface="Georgia"/>
                <a:ea typeface="Georgia"/>
                <a:cs typeface="Georgia"/>
                <a:sym typeface="Georgia"/>
              </a:rPr>
              <a:t>Desarrollo MVP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686050" y="1903065"/>
            <a:ext cx="167106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8-12 semanas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2686050" y="2144911"/>
            <a:ext cx="1638300" cy="2484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Agente IA core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Integración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Generación informes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Interfaz usuario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648200" y="1095375"/>
            <a:ext cx="1981200" cy="419100"/>
          </a:xfrm>
          <a:prstGeom prst="roundRect">
            <a:avLst>
              <a:gd fmla="val 13636" name="adj"/>
            </a:avLst>
          </a:prstGeom>
          <a:solidFill>
            <a:srgbClr val="C9A227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628388" y="1171575"/>
            <a:ext cx="202082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7F9FA"/>
                </a:solidFill>
                <a:latin typeface="Arial"/>
                <a:ea typeface="Arial"/>
                <a:cs typeface="Arial"/>
                <a:sym typeface="Arial"/>
              </a:rPr>
              <a:t>FASE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648200" y="1514475"/>
            <a:ext cx="1981200" cy="3286125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819650" y="1685925"/>
            <a:ext cx="167106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F7F9FA"/>
                </a:solidFill>
                <a:latin typeface="Georgia"/>
                <a:ea typeface="Georgia"/>
                <a:cs typeface="Georgia"/>
                <a:sym typeface="Georgia"/>
              </a:rPr>
              <a:t>Piloto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819650" y="1903065"/>
            <a:ext cx="167106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4-6 semanas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819650" y="2144911"/>
            <a:ext cx="1638300" cy="2484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Gestorías reales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Feedback y ajustes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Validación valor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Métricas de uso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781800" y="1095375"/>
            <a:ext cx="1981200" cy="419100"/>
          </a:xfrm>
          <a:prstGeom prst="roundRect">
            <a:avLst>
              <a:gd fmla="val 13636" name="adj"/>
            </a:avLst>
          </a:prstGeom>
          <a:solidFill>
            <a:srgbClr val="C9A227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761988" y="1171575"/>
            <a:ext cx="202082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FASE 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781800" y="1514475"/>
            <a:ext cx="1981200" cy="3286125"/>
          </a:xfrm>
          <a:prstGeom prst="rect">
            <a:avLst/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953250" y="1685925"/>
            <a:ext cx="167106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1050"/>
              <a:buFont typeface="Georgia"/>
              <a:buNone/>
            </a:pPr>
            <a:r>
              <a:rPr b="0" i="0" lang="en-US" sz="1050" u="none" cap="none" strike="noStrike">
                <a:solidFill>
                  <a:srgbClr val="F7F9FA"/>
                </a:solidFill>
                <a:latin typeface="Georgia"/>
                <a:ea typeface="Georgia"/>
                <a:cs typeface="Georgia"/>
                <a:sym typeface="Georgia"/>
              </a:rPr>
              <a:t>Producción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953250" y="1903065"/>
            <a:ext cx="167106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Ongoing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953250" y="2144911"/>
            <a:ext cx="1638300" cy="2484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Despliegue comercial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Soporte y evolución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Nuevos casos uso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Escalado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22f05744.png"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381000" y="3810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F7F9FA"/>
                </a:solidFill>
                <a:latin typeface="Georgia"/>
                <a:ea typeface="Georgia"/>
                <a:cs typeface="Georgia"/>
                <a:sym typeface="Georgia"/>
              </a:rPr>
              <a:t>Por Qué Este Equipo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81000" y="800100"/>
            <a:ext cx="5715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81000" y="1095375"/>
            <a:ext cx="4076700" cy="1127671"/>
          </a:xfrm>
          <a:prstGeom prst="roundRect">
            <a:avLst>
              <a:gd fmla="val 5068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52450" y="1266825"/>
            <a:ext cx="380847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EXPERIENCIA DEMOSTRADA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52450" y="1457325"/>
            <a:ext cx="3808476" cy="594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Colaboración activa con </a:t>
            </a:r>
            <a:r>
              <a:rPr b="1" lang="en-US" sz="975">
                <a:solidFill>
                  <a:srgbClr val="F7F9FA"/>
                </a:solidFill>
              </a:rPr>
              <a:t>otros </a:t>
            </a:r>
            <a:r>
              <a:rPr b="0" i="0" lang="en-US" sz="975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 proyectos enterprise de IA. Sistemas en producción para empresas en healthcare, retail y consumer goods.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81000" y="2356396"/>
            <a:ext cx="4076700" cy="929580"/>
          </a:xfrm>
          <a:prstGeom prst="roundRect">
            <a:avLst>
              <a:gd fmla="val 6148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52450" y="2527846"/>
            <a:ext cx="380847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TECNOLOGÍA ESPECIALIZADA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52450" y="2718346"/>
            <a:ext cx="3808476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RAG systems, agentes multi-tarea, procesamiento de documentos financieros. Exactamente lo que este producto necesita.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81000" y="3419326"/>
            <a:ext cx="4076700" cy="929580"/>
          </a:xfrm>
          <a:prstGeom prst="roundRect">
            <a:avLst>
              <a:gd fmla="val 6148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52450" y="3590776"/>
            <a:ext cx="380847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ENFOQUE PRAGMÁTICO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52450" y="3781276"/>
            <a:ext cx="3808476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No somos una consultora grande. Somos técnicos que entienden negocio. Sin capas intermedias, sin overhead.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686300" y="1095375"/>
            <a:ext cx="415823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PROYECTOS SIMILARES ENTREGADOS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686300" y="1343025"/>
            <a:ext cx="4076700" cy="676126"/>
          </a:xfrm>
          <a:prstGeom prst="roundRect">
            <a:avLst>
              <a:gd fmla="val 8453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838700" y="1552575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048250" y="1495425"/>
            <a:ext cx="3097423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7F9FA"/>
                </a:solidFill>
                <a:latin typeface="Arial"/>
                <a:ea typeface="Arial"/>
                <a:cs typeface="Arial"/>
                <a:sym typeface="Arial"/>
              </a:rPr>
              <a:t>Empresa biotech alemana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048250" y="1706761"/>
            <a:ext cx="309742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RAG sobre literatura médica. 3x más rápido, 85% precisión.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686300" y="2152501"/>
            <a:ext cx="4076700" cy="676126"/>
          </a:xfrm>
          <a:prstGeom prst="roundRect">
            <a:avLst>
              <a:gd fmla="val 8453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838700" y="2362051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048250" y="2304901"/>
            <a:ext cx="302000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7F9FA"/>
                </a:solidFill>
                <a:latin typeface="Arial"/>
                <a:ea typeface="Arial"/>
                <a:cs typeface="Arial"/>
                <a:sym typeface="Arial"/>
              </a:rPr>
              <a:t>Operador aeroportuario US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048250" y="2516237"/>
            <a:ext cx="302000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Multi-agente análisis de feedback. De semanas a minutos.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686300" y="2961977"/>
            <a:ext cx="4076700" cy="676126"/>
          </a:xfrm>
          <a:prstGeom prst="roundRect">
            <a:avLst>
              <a:gd fmla="val 8453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838700" y="3171527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048250" y="3114377"/>
            <a:ext cx="312368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9FA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7F9FA"/>
                </a:solidFill>
                <a:latin typeface="Arial"/>
                <a:ea typeface="Arial"/>
                <a:cs typeface="Arial"/>
                <a:sym typeface="Arial"/>
              </a:rPr>
              <a:t>Marca premium de bebidas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048250" y="3325713"/>
            <a:ext cx="312368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8A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8A5"/>
                </a:solidFill>
                <a:latin typeface="Arial"/>
                <a:ea typeface="Arial"/>
                <a:cs typeface="Arial"/>
                <a:sym typeface="Arial"/>
              </a:rPr>
              <a:t>Q&amp;A producto en tiempo real. Consistencia global de marca.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2025-12-08T10:18:08Z</dcterms:created>
  <dc:creator>AI &amp; Data Engineering</dc:creator>
</cp:coreProperties>
</file>